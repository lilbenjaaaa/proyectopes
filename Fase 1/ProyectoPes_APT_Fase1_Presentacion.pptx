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iwtLQAaRJwnKtg30+Xoqdwmha3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Yo</a:t>
            </a:r>
            <a:r>
              <a:rPr lang="en-US"/>
              <a:t>: “Nuestro proyecto se llama ProyectoPes y busca incorporar un módulo de IA para scouting deportivo dentro de Captaciones.cl, pero manteniendo separado el entorno de experimentación de los datos reales.”</a:t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Benjamin: explicar primero qué existe, luego el riesgo y finalmente por qué el problema no es “falta de datos”, sino cómo experimentar sin poner en riesgo la operación real.</a:t>
            </a:r>
            <a:endParaRPr/>
          </a:p>
        </p:txBody>
      </p:sp>
      <p:sp>
        <p:nvSpPr>
          <p:cNvPr id="41" name="Google Shape;4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8b6165c22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8b6165c22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f8b6165c22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Yo</a:t>
            </a:r>
            <a:r>
              <a:rPr lang="en-US"/>
              <a:t>: presentar el flujo de izquierda a derecha. La frase clave es “la IA no toca directamente la base de producción”.</a:t>
            </a:r>
            <a:endParaRPr/>
          </a:p>
        </p:txBody>
      </p:sp>
      <p:sp>
        <p:nvSpPr>
          <p:cNvPr id="74" name="Google Shape;7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Domingo: presentar las tres funciones y conectar cada una con una decisión real del analista: buscar, comparar y priorizar.</a:t>
            </a:r>
            <a:endParaRPr/>
          </a:p>
        </p:txBody>
      </p:sp>
      <p:sp>
        <p:nvSpPr>
          <p:cNvPr id="115" name="Google Shape;11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Benjamin: decir el objetivo general casi textual y resumir los específicos como una cadena: datos → IA → API → interfaz → pruebas.</a:t>
            </a:r>
            <a:endParaRPr/>
          </a:p>
        </p:txBody>
      </p:sp>
      <p:sp>
        <p:nvSpPr>
          <p:cNvPr id="151" name="Google Shape;15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Giovanni: enfatizar que el desacoplamiento no es un detalle de infraestructura; es parte central de la solución y de la justificación del proyecto.</a:t>
            </a:r>
            <a:endParaRPr/>
          </a:p>
        </p:txBody>
      </p:sp>
      <p:sp>
        <p:nvSpPr>
          <p:cNvPr id="177" name="Google Shape;17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</a:t>
            </a:r>
            <a:r>
              <a:rPr lang="en-US"/>
              <a:t>omingo: explicar que trabajaremos en iteraciones cortas y que la distribución de responsabilidades permite diferenciar aportes sin aislar a los integrantes.</a:t>
            </a:r>
            <a:endParaRPr/>
          </a:p>
        </p:txBody>
      </p:sp>
      <p:sp>
        <p:nvSpPr>
          <p:cNvPr id="203" name="Google Shape;20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Benjamin: la idea es demostrar que no estamos proponiendo reconstruir Captaciones.cl, sino evolucionarlo de forma acotada y segura.</a:t>
            </a:r>
            <a:endParaRPr/>
          </a:p>
        </p:txBody>
      </p:sp>
      <p:sp>
        <p:nvSpPr>
          <p:cNvPr id="241" name="Google Shape;24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Giovanni: nombrar los cuatro entregables y aclarar que no solo se evaluará código, sino también arquitectura, funcionamiento, pruebas y documentación.</a:t>
            </a:r>
            <a:endParaRPr/>
          </a:p>
        </p:txBody>
      </p:sp>
      <p:sp>
        <p:nvSpPr>
          <p:cNvPr id="268" name="Google Shape;26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Domingo: presentar esto como una ruta general, no leer semana por semana. Destacar que integración y pruebas se superponen con el desarrollo para detectar problemas antes del cierre.</a:t>
            </a:r>
            <a:endParaRPr/>
          </a:p>
        </p:txBody>
      </p:sp>
      <p:sp>
        <p:nvSpPr>
          <p:cNvPr id="298" name="Google Shape;29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Cierre sugerido: “ProyectoPes agrega inteligencia a una plataforma que ya existe, pero con una arquitectura que protege producción. Nuestro foco es buscar, comparar y priorizar talentos de manera más objetiva y escalable.”</a:t>
            </a:r>
            <a:endParaRPr/>
          </a:p>
        </p:txBody>
      </p:sp>
      <p:sp>
        <p:nvSpPr>
          <p:cNvPr id="305" name="Google Shape;30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6F8FB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132B"/>
          </a:solidFill>
          <a:ln cap="flat" cmpd="sng" w="12700">
            <a:solidFill>
              <a:srgbClr val="0B13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3"/>
          <p:cNvSpPr/>
          <p:nvPr/>
        </p:nvSpPr>
        <p:spPr>
          <a:xfrm>
            <a:off x="502920" y="656539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08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37083"/>
                </a:solidFill>
                <a:latin typeface="Arial"/>
                <a:ea typeface="Arial"/>
                <a:cs typeface="Arial"/>
                <a:sym typeface="Arial"/>
              </a:rPr>
              <a:t>ProyectoPes  |  APT Fase 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3"/>
          <p:cNvSpPr/>
          <p:nvPr/>
        </p:nvSpPr>
        <p:spPr>
          <a:xfrm>
            <a:off x="8458200" y="6565392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3708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37083"/>
                </a:solidFill>
                <a:latin typeface="Arial"/>
                <a:ea typeface="Arial"/>
                <a:cs typeface="Arial"/>
                <a:sym typeface="Arial"/>
              </a:rPr>
              <a:t>Ingeniería en Informática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3"/>
          <p:cNvSpPr txBox="1"/>
          <p:nvPr>
            <p:ph idx="12" type="sldNum"/>
          </p:nvPr>
        </p:nvSpPr>
        <p:spPr>
          <a:xfrm>
            <a:off x="11750040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3708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3708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3708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3708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3708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3708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3708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3708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3708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11750040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3708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3708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3708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3708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3708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3708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3708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3708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3708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 cap="flat" cmpd="sng" w="12700">
            <a:solidFill>
              <a:srgbClr val="0B13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7955280" y="-274320"/>
            <a:ext cx="4389120" cy="438912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B132B">
              <a:alpha val="0"/>
            </a:srgbClr>
          </a:solidFill>
          <a:ln cap="flat" cmpd="sng" w="101600">
            <a:solidFill>
              <a:srgbClr val="2033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8458200" y="228600"/>
            <a:ext cx="3383280" cy="338328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B132B">
              <a:alpha val="0"/>
            </a:srgbClr>
          </a:solidFill>
          <a:ln cap="flat" cmpd="sng" w="635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594360" y="566928"/>
            <a:ext cx="2240280" cy="292608"/>
          </a:xfrm>
          <a:prstGeom prst="roundRect">
            <a:avLst>
              <a:gd fmla="val 46875" name="adj"/>
            </a:avLst>
          </a:prstGeom>
          <a:solidFill>
            <a:srgbClr val="1D4ED8"/>
          </a:solidFill>
          <a:ln cap="flat" cmpd="sng" w="12700">
            <a:solidFill>
              <a:srgbClr val="1D4ED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594360" y="576072"/>
            <a:ext cx="2240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PROYECTO APT · FASE 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94360" y="1280160"/>
            <a:ext cx="7132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ProyectoPes</a:t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594348" y="2121388"/>
            <a:ext cx="9372600" cy="10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9"/>
              </a:buClr>
              <a:buSzPts val="2300"/>
              <a:buFont typeface="Arial"/>
              <a:buNone/>
            </a:pPr>
            <a:r>
              <a:rPr b="1" i="0" lang="en-US" sz="3000" u="none" cap="none" strike="noStrike">
                <a:solidFill>
                  <a:srgbClr val="E6EEF9"/>
                </a:solidFill>
                <a:latin typeface="Arial"/>
                <a:ea typeface="Arial"/>
                <a:cs typeface="Arial"/>
                <a:sym typeface="Arial"/>
              </a:rPr>
              <a:t>Plataforma Web de Analítica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9"/>
              </a:buClr>
              <a:buSzPts val="2300"/>
              <a:buFont typeface="Arial"/>
              <a:buNone/>
            </a:pPr>
            <a:r>
              <a:rPr b="1" i="0" lang="en-US" sz="3000" u="none" cap="none" strike="noStrike">
                <a:solidFill>
                  <a:srgbClr val="E6EEF9"/>
                </a:solidFill>
                <a:latin typeface="Arial"/>
                <a:ea typeface="Arial"/>
                <a:cs typeface="Arial"/>
                <a:sym typeface="Arial"/>
              </a:rPr>
              <a:t>y Scouting Deportivo basada en Atributos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594360" y="3246120"/>
            <a:ext cx="75438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7E6"/>
              </a:buClr>
              <a:buSzPts val="1500"/>
              <a:buFont typeface="Arial"/>
              <a:buNone/>
            </a:pPr>
            <a:r>
              <a:rPr b="0" i="0" lang="en-US" sz="2400" u="none" cap="none" strike="noStrike">
                <a:solidFill>
                  <a:srgbClr val="B9C7E6"/>
                </a:solidFill>
                <a:latin typeface="Arial"/>
                <a:ea typeface="Arial"/>
                <a:cs typeface="Arial"/>
                <a:sym typeface="Arial"/>
              </a:rPr>
              <a:t>Una propuesta para incorporar Inteligencia Artificial al scouting de Captaciones.cl sin comprometer la información operativa.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8229600" y="2677300"/>
            <a:ext cx="3677100" cy="2489100"/>
          </a:xfrm>
          <a:prstGeom prst="roundRect">
            <a:avLst>
              <a:gd fmla="val 7143" name="adj"/>
            </a:avLst>
          </a:prstGeom>
          <a:solidFill>
            <a:srgbClr val="172347"/>
          </a:solidFill>
          <a:ln cap="flat" cmpd="sng" w="15700">
            <a:solidFill>
              <a:srgbClr val="17234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8512434" y="2949908"/>
            <a:ext cx="31113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114"/>
              <a:buFont typeface="Arial"/>
              <a:buNone/>
            </a:pPr>
            <a:r>
              <a:rPr b="1" i="0" lang="en-US" sz="1114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JUGADOR RECOMENDADO</a:t>
            </a:r>
            <a:endParaRPr b="0" i="0" sz="111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8512434" y="3424009"/>
            <a:ext cx="20364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27"/>
              <a:buFont typeface="Arial"/>
              <a:buNone/>
            </a:pPr>
            <a:r>
              <a:rPr b="1" i="0" lang="en-US" sz="222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 · 18 años</a:t>
            </a:r>
            <a:endParaRPr b="0" i="0" sz="222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8512434" y="4016635"/>
            <a:ext cx="18666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2103"/>
              <a:buFont typeface="Arial"/>
              <a:buNone/>
            </a:pPr>
            <a:r>
              <a:rPr b="1" i="0" lang="en-US" sz="2103" u="none" cap="none" strike="noStrike">
                <a:solidFill>
                  <a:srgbClr val="A7F3D0"/>
                </a:solidFill>
                <a:latin typeface="Arial"/>
                <a:ea typeface="Arial"/>
                <a:cs typeface="Arial"/>
                <a:sym typeface="Arial"/>
              </a:rPr>
              <a:t>Score  87</a:t>
            </a:r>
            <a:endParaRPr b="0" i="0" sz="210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8512434" y="4490736"/>
            <a:ext cx="28848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0F0"/>
              </a:buClr>
              <a:buSzPts val="1361"/>
              <a:buFont typeface="Arial"/>
              <a:buNone/>
            </a:pPr>
            <a:r>
              <a:rPr b="0" i="0" lang="en-US" sz="1361" u="none" cap="none" strike="noStrike">
                <a:solidFill>
                  <a:srgbClr val="D6E0F0"/>
                </a:solidFill>
                <a:latin typeface="Arial"/>
                <a:ea typeface="Arial"/>
                <a:cs typeface="Arial"/>
                <a:sym typeface="Arial"/>
              </a:rPr>
              <a:t>Velocidad   91   Pase   86</a:t>
            </a:r>
            <a:endParaRPr b="0" i="0" sz="136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0F0"/>
              </a:buClr>
              <a:buSzPts val="1361"/>
              <a:buFont typeface="Arial"/>
              <a:buNone/>
            </a:pPr>
            <a:r>
              <a:rPr b="0" i="0" lang="en-US" sz="1361" u="none" cap="none" strike="noStrike">
                <a:solidFill>
                  <a:srgbClr val="D6E0F0"/>
                </a:solidFill>
                <a:latin typeface="Arial"/>
                <a:ea typeface="Arial"/>
                <a:cs typeface="Arial"/>
                <a:sym typeface="Arial"/>
              </a:rPr>
              <a:t>Tiro          78   Posic.  89</a:t>
            </a:r>
            <a:endParaRPr b="0" i="0" sz="136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594360" y="5989320"/>
            <a:ext cx="8778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8D6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rgbClr val="AAB8D6"/>
                </a:solidFill>
                <a:latin typeface="Arial"/>
                <a:ea typeface="Arial"/>
                <a:cs typeface="Arial"/>
                <a:sym typeface="Arial"/>
              </a:rPr>
              <a:t>Benjamin Ibaceta  ·  Giovanni Jorquera  ·  Domingo Muñoz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594346" y="6291077"/>
            <a:ext cx="79782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0B5"/>
              </a:buClr>
              <a:buSzPts val="1000"/>
              <a:buFont typeface="Arial"/>
              <a:buNone/>
            </a:pPr>
            <a:r>
              <a:rPr b="0" i="0" lang="en-US" sz="2400" u="none" cap="none" strike="noStrike">
                <a:solidFill>
                  <a:srgbClr val="7F90B5"/>
                </a:solidFill>
                <a:latin typeface="Arial"/>
                <a:ea typeface="Arial"/>
                <a:cs typeface="Arial"/>
                <a:sym typeface="Arial"/>
              </a:rPr>
              <a:t>Ingeniería en Informática · Sede Viña del Mar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"/>
          <p:cNvSpPr txBox="1"/>
          <p:nvPr>
            <p:ph idx="4294967295" type="sldNum"/>
          </p:nvPr>
        </p:nvSpPr>
        <p:spPr>
          <a:xfrm>
            <a:off x="11750040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3708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3708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/>
          <p:nvPr/>
        </p:nvSpPr>
        <p:spPr>
          <a:xfrm>
            <a:off x="594360" y="34747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01 · CONTEXTO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B132B"/>
                </a:solidFill>
                <a:latin typeface="Arial"/>
                <a:ea typeface="Arial"/>
                <a:cs typeface="Arial"/>
                <a:sym typeface="Arial"/>
              </a:rPr>
              <a:t>¿Qué problema queremos resolver?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94360" y="118872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Hoy la plataforma funciona, pero la evaluación de talentos sigue dependiendo de procesos convencionales.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40080" y="1828800"/>
            <a:ext cx="3474720" cy="3246120"/>
          </a:xfrm>
          <a:prstGeom prst="roundRect">
            <a:avLst>
              <a:gd fmla="val 4225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640080" y="1828800"/>
            <a:ext cx="64008" cy="3246120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850392" y="2029968"/>
            <a:ext cx="30815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1500"/>
              <a:buFont typeface="Arial"/>
              <a:buNone/>
            </a:pPr>
            <a:r>
              <a:rPr b="1" i="0" lang="en-US" sz="1800" u="none" cap="none" strike="noStrike">
                <a:solidFill>
                  <a:srgbClr val="0B132B"/>
                </a:solidFill>
                <a:latin typeface="Arial"/>
                <a:ea typeface="Arial"/>
                <a:cs typeface="Arial"/>
                <a:sym typeface="Arial"/>
              </a:rPr>
              <a:t>Situación actual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850392" y="2414016"/>
            <a:ext cx="3081528" cy="2496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5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Captaciones.cl ya cuenta con módulos para asistencia, profesores, postulantes y usuarios. La evaluación y el filtrado de talentos se realiza manualmente o de forma convencional.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370832" y="1828800"/>
            <a:ext cx="3474720" cy="3246120"/>
          </a:xfrm>
          <a:prstGeom prst="roundRect">
            <a:avLst>
              <a:gd fmla="val 4225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4370832" y="1828800"/>
            <a:ext cx="64008" cy="324612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581144" y="2029968"/>
            <a:ext cx="30815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1500"/>
              <a:buFont typeface="Arial"/>
              <a:buNone/>
            </a:pPr>
            <a:r>
              <a:rPr b="1" i="0" lang="en-US" sz="1800" u="none" cap="none" strike="noStrike">
                <a:solidFill>
                  <a:srgbClr val="0B132B"/>
                </a:solidFill>
                <a:latin typeface="Arial"/>
                <a:ea typeface="Arial"/>
                <a:cs typeface="Arial"/>
                <a:sym typeface="Arial"/>
              </a:rPr>
              <a:t>Problema técnico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581144" y="2414016"/>
            <a:ext cx="3081528" cy="2496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5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Probar o entrenar IA directamente sobre datos de producción puede alterar registros reales, introducir errores y dificultar la estandarización necesaria para comparar jugadores.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8101584" y="1828800"/>
            <a:ext cx="3474720" cy="3246120"/>
          </a:xfrm>
          <a:prstGeom prst="roundRect">
            <a:avLst>
              <a:gd fmla="val 4225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8101584" y="1828800"/>
            <a:ext cx="64008" cy="324612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8311896" y="2029968"/>
            <a:ext cx="30815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1500"/>
              <a:buFont typeface="Arial"/>
              <a:buNone/>
            </a:pPr>
            <a:r>
              <a:rPr b="1" i="0" lang="en-US" sz="1800" u="none" cap="none" strike="noStrike">
                <a:solidFill>
                  <a:srgbClr val="0B132B"/>
                </a:solidFill>
                <a:latin typeface="Arial"/>
                <a:ea typeface="Arial"/>
                <a:cs typeface="Arial"/>
                <a:sym typeface="Arial"/>
              </a:rPr>
              <a:t>Oportunidad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8311896" y="2414016"/>
            <a:ext cx="3081528" cy="2496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5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Crear un entorno de datos independiente, con atributos estandarizados, permite experimentar con IA de manera segura y convertir datos deportivos en recomendaciones útiles.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658368" y="5486400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ÁREAS DE DESEMPEÑO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2121408" y="5422392"/>
            <a:ext cx="9052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B132B"/>
                </a:solidFill>
                <a:latin typeface="Arial"/>
                <a:ea typeface="Arial"/>
                <a:cs typeface="Arial"/>
                <a:sym typeface="Arial"/>
              </a:rPr>
              <a:t>Desarrollo + IA  ·  Gestión/segregación de BD  ·  Arquitectura y seguridad web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58368" y="5925312"/>
            <a:ext cx="1143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IDEA CENTRAL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1874520" y="5870448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Separar datos IA de producción → experimentar seguro → integrar resultados.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 txBox="1"/>
          <p:nvPr>
            <p:ph idx="4294967295" type="sldNum"/>
          </p:nvPr>
        </p:nvSpPr>
        <p:spPr>
          <a:xfrm>
            <a:off x="11750040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3708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3708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g3f8b6165c22_2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850" y="1472725"/>
            <a:ext cx="6074099" cy="455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g3f8b6165c22_2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66425" y="1472725"/>
            <a:ext cx="3264213" cy="455555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3f8b6165c22_2_0"/>
          <p:cNvSpPr txBox="1"/>
          <p:nvPr>
            <p:ph idx="4294967295" type="sldNum"/>
          </p:nvPr>
        </p:nvSpPr>
        <p:spPr>
          <a:xfrm>
            <a:off x="11750040" y="6528816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 b="0" i="0" sz="800" u="none" cap="none" strike="noStrike">
              <a:solidFill>
                <a:srgbClr val="63708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/>
          <p:nvPr/>
        </p:nvSpPr>
        <p:spPr>
          <a:xfrm>
            <a:off x="594360" y="34747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02 · SOLUCIÓN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B132B"/>
                </a:solidFill>
                <a:latin typeface="Arial"/>
                <a:ea typeface="Arial"/>
                <a:cs typeface="Arial"/>
                <a:sym typeface="Arial"/>
              </a:rPr>
              <a:t>La solución propuesta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594360" y="118872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Un módulo inteligente conectado a una base de datos desacoplada y estandarizada.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640080" y="2084832"/>
            <a:ext cx="2240280" cy="1389888"/>
          </a:xfrm>
          <a:prstGeom prst="roundRect">
            <a:avLst>
              <a:gd fmla="val 9868" name="adj"/>
            </a:avLst>
          </a:prstGeom>
          <a:solidFill>
            <a:srgbClr val="0B132B"/>
          </a:solidFill>
          <a:ln cap="flat" cmpd="sng" w="12700">
            <a:solidFill>
              <a:srgbClr val="0B132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749808" y="2377440"/>
            <a:ext cx="20208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CAPTACIONES.CL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786384" y="2761488"/>
            <a:ext cx="1947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E7F7"/>
              </a:buClr>
              <a:buSzPts val="1000"/>
              <a:buFont typeface="Arial"/>
              <a:buNone/>
            </a:pPr>
            <a:r>
              <a:rPr b="0" i="0" lang="en-US" sz="1300" u="none" cap="none" strike="noStrike">
                <a:solidFill>
                  <a:srgbClr val="DCE7F7"/>
                </a:solidFill>
                <a:latin typeface="Arial"/>
                <a:ea typeface="Arial"/>
                <a:cs typeface="Arial"/>
                <a:sym typeface="Arial"/>
              </a:rPr>
              <a:t>Plataforma actual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" name="Google Shape;82;p3"/>
          <p:cNvCxnSpPr/>
          <p:nvPr/>
        </p:nvCxnSpPr>
        <p:spPr>
          <a:xfrm>
            <a:off x="2880360" y="2779776"/>
            <a:ext cx="941832" cy="0"/>
          </a:xfrm>
          <a:prstGeom prst="straightConnector1">
            <a:avLst/>
          </a:prstGeom>
          <a:noFill/>
          <a:ln cap="flat" cmpd="sng" w="254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3"/>
          <p:cNvSpPr/>
          <p:nvPr/>
        </p:nvSpPr>
        <p:spPr>
          <a:xfrm>
            <a:off x="3822192" y="2084832"/>
            <a:ext cx="2240280" cy="1389888"/>
          </a:xfrm>
          <a:prstGeom prst="roundRect">
            <a:avLst>
              <a:gd fmla="val 9868" name="adj"/>
            </a:avLst>
          </a:prstGeom>
          <a:solidFill>
            <a:srgbClr val="1D4ED8"/>
          </a:solidFill>
          <a:ln cap="flat" cmpd="sng" w="12700">
            <a:solidFill>
              <a:srgbClr val="1D4ED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3931920" y="2377440"/>
            <a:ext cx="20208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BD IA / PES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3968496" y="2761488"/>
            <a:ext cx="1947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E7F7"/>
              </a:buClr>
              <a:buSzPts val="1000"/>
              <a:buFont typeface="Arial"/>
              <a:buNone/>
            </a:pPr>
            <a:r>
              <a:rPr b="0" i="0" lang="en-US" sz="1300" u="none" cap="none" strike="noStrike">
                <a:solidFill>
                  <a:srgbClr val="DCE7F7"/>
                </a:solidFill>
                <a:latin typeface="Arial"/>
                <a:ea typeface="Arial"/>
                <a:cs typeface="Arial"/>
                <a:sym typeface="Arial"/>
              </a:rPr>
              <a:t>Datos estandarizados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" name="Google Shape;86;p3"/>
          <p:cNvCxnSpPr/>
          <p:nvPr/>
        </p:nvCxnSpPr>
        <p:spPr>
          <a:xfrm>
            <a:off x="6062472" y="2779776"/>
            <a:ext cx="932688" cy="0"/>
          </a:xfrm>
          <a:prstGeom prst="straightConnector1">
            <a:avLst/>
          </a:prstGeom>
          <a:noFill/>
          <a:ln cap="flat" cmpd="sng" w="254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3"/>
          <p:cNvSpPr/>
          <p:nvPr/>
        </p:nvSpPr>
        <p:spPr>
          <a:xfrm>
            <a:off x="6995160" y="2084832"/>
            <a:ext cx="2240280" cy="1389888"/>
          </a:xfrm>
          <a:prstGeom prst="roundRect">
            <a:avLst>
              <a:gd fmla="val 9868" name="adj"/>
            </a:avLst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7104888" y="2377440"/>
            <a:ext cx="20208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MOTOR IA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7141464" y="2761488"/>
            <a:ext cx="1947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E7F7"/>
              </a:buClr>
              <a:buSzPts val="1000"/>
              <a:buFont typeface="Arial"/>
              <a:buNone/>
            </a:pPr>
            <a:r>
              <a:rPr b="0" i="0" lang="en-US" u="none" cap="none" strike="noStrike">
                <a:solidFill>
                  <a:srgbClr val="DCE7F7"/>
                </a:solidFill>
                <a:latin typeface="Arial"/>
                <a:ea typeface="Arial"/>
                <a:cs typeface="Arial"/>
                <a:sym typeface="Arial"/>
              </a:rPr>
              <a:t>Similitud + scoring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" name="Google Shape;90;p3"/>
          <p:cNvCxnSpPr/>
          <p:nvPr/>
        </p:nvCxnSpPr>
        <p:spPr>
          <a:xfrm>
            <a:off x="9235440" y="2779776"/>
            <a:ext cx="347472" cy="0"/>
          </a:xfrm>
          <a:prstGeom prst="straightConnector1">
            <a:avLst/>
          </a:prstGeom>
          <a:noFill/>
          <a:ln cap="flat" cmpd="sng" w="254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p3"/>
          <p:cNvSpPr/>
          <p:nvPr/>
        </p:nvSpPr>
        <p:spPr>
          <a:xfrm>
            <a:off x="9582912" y="2084832"/>
            <a:ext cx="2240280" cy="1389888"/>
          </a:xfrm>
          <a:prstGeom prst="roundRect">
            <a:avLst>
              <a:gd fmla="val 9868" name="adj"/>
            </a:avLst>
          </a:prstGeom>
          <a:solidFill>
            <a:srgbClr val="16A34A"/>
          </a:solidFill>
          <a:ln cap="flat" cmpd="sng" w="12700">
            <a:solidFill>
              <a:srgbClr val="16A34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9692640" y="2377440"/>
            <a:ext cx="20208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9729216" y="2761488"/>
            <a:ext cx="1947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E7F7"/>
              </a:buClr>
              <a:buSzPts val="1000"/>
              <a:buFont typeface="Arial"/>
              <a:buNone/>
            </a:pPr>
            <a:r>
              <a:rPr b="0" i="0" lang="en-US" u="none" cap="none" strike="noStrike">
                <a:solidFill>
                  <a:srgbClr val="DCE7F7"/>
                </a:solidFill>
                <a:latin typeface="Arial"/>
                <a:ea typeface="Arial"/>
                <a:cs typeface="Arial"/>
                <a:sym typeface="Arial"/>
              </a:rPr>
              <a:t>Recomendaciones + gráficos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3127248" y="2496312"/>
            <a:ext cx="438912" cy="512064"/>
          </a:xfrm>
          <a:prstGeom prst="chevron">
            <a:avLst>
              <a:gd fmla="val 50000" name="adj"/>
            </a:avLst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6300216" y="2496312"/>
            <a:ext cx="438912" cy="512064"/>
          </a:xfrm>
          <a:prstGeom prst="chevron">
            <a:avLst>
              <a:gd fmla="val 50000" name="adj"/>
            </a:avLst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9253728" y="2496312"/>
            <a:ext cx="438912" cy="512064"/>
          </a:xfrm>
          <a:prstGeom prst="chevron">
            <a:avLst>
              <a:gd fmla="val 50000" name="adj"/>
            </a:avLst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658368" y="4069080"/>
            <a:ext cx="3456432" cy="1417320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658368" y="4069080"/>
            <a:ext cx="64008" cy="1417320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868680" y="4270248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1500"/>
              <a:buFont typeface="Arial"/>
              <a:buNone/>
            </a:pPr>
            <a:r>
              <a:rPr b="1" i="0" lang="en-US" sz="1800" u="none" cap="none" strike="noStrike">
                <a:solidFill>
                  <a:srgbClr val="0B132B"/>
                </a:solidFill>
                <a:latin typeface="Arial"/>
                <a:ea typeface="Arial"/>
                <a:cs typeface="Arial"/>
                <a:sym typeface="Arial"/>
              </a:rPr>
              <a:t>1. Aislamiento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868680" y="4654296"/>
            <a:ext cx="306324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5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Los datos operativos permanecen separados del dataset de IA.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4379976" y="4069080"/>
            <a:ext cx="3456432" cy="1417320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4379976" y="4069080"/>
            <a:ext cx="64008" cy="141732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4590288" y="4270248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1500"/>
              <a:buFont typeface="Arial"/>
              <a:buNone/>
            </a:pPr>
            <a:r>
              <a:rPr b="1" i="0" lang="en-US" sz="1800" u="none" cap="none" strike="noStrike">
                <a:solidFill>
                  <a:srgbClr val="0B132B"/>
                </a:solidFill>
                <a:latin typeface="Arial"/>
                <a:ea typeface="Arial"/>
                <a:cs typeface="Arial"/>
                <a:sym typeface="Arial"/>
              </a:rPr>
              <a:t>2. Inteligencia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4590288" y="4654296"/>
            <a:ext cx="306324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5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El motor calcula similitud, filtros y scoring para apoyar el scouting.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8101584" y="4069080"/>
            <a:ext cx="3456432" cy="1417320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8101584" y="4069080"/>
            <a:ext cx="64008" cy="141732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8311896" y="4270248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1500"/>
              <a:buFont typeface="Arial"/>
              <a:buNone/>
            </a:pPr>
            <a:r>
              <a:rPr b="1" i="0" lang="en-US" sz="1800" u="none" cap="none" strike="noStrike">
                <a:solidFill>
                  <a:srgbClr val="0B132B"/>
                </a:solidFill>
                <a:latin typeface="Arial"/>
                <a:ea typeface="Arial"/>
                <a:cs typeface="Arial"/>
                <a:sym typeface="Arial"/>
              </a:rPr>
              <a:t>3. Integración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8311896" y="4654296"/>
            <a:ext cx="306324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5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El frontend muestra comparativas, radar y resultados accionables.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658368" y="5715000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Resultado esperado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2039112" y="5660136"/>
            <a:ext cx="9235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B132B"/>
                </a:solidFill>
                <a:latin typeface="Arial"/>
                <a:ea typeface="Arial"/>
                <a:cs typeface="Arial"/>
                <a:sym typeface="Arial"/>
              </a:rPr>
              <a:t>Más capacidad analítica sin modificar la operación diaria de Captaciones.cl.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 txBox="1"/>
          <p:nvPr>
            <p:ph idx="4294967295" type="sldNum"/>
          </p:nvPr>
        </p:nvSpPr>
        <p:spPr>
          <a:xfrm>
            <a:off x="11750040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3708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3708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/>
          <p:nvPr/>
        </p:nvSpPr>
        <p:spPr>
          <a:xfrm>
            <a:off x="594360" y="34747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03 · FUNCIONALIDADES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B132B"/>
                </a:solidFill>
                <a:latin typeface="Arial"/>
                <a:ea typeface="Arial"/>
                <a:cs typeface="Arial"/>
                <a:sym typeface="Arial"/>
              </a:rPr>
              <a:t>¿Qué hará el módulo de IA?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594360" y="118872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Tres funciones concretas, pensadas para apoyar decisiones de scouting.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713232" y="1883664"/>
            <a:ext cx="420624" cy="420624"/>
          </a:xfrm>
          <a:prstGeom prst="ellipse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713232" y="1901952"/>
            <a:ext cx="4206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1335024" y="1828800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1600"/>
              <a:buFont typeface="Arial"/>
              <a:buNone/>
            </a:pPr>
            <a:r>
              <a:rPr b="1" i="0" lang="en-US" sz="2100" u="none" cap="none" strike="noStrike">
                <a:solidFill>
                  <a:srgbClr val="0B132B"/>
                </a:solidFill>
                <a:latin typeface="Arial"/>
                <a:ea typeface="Arial"/>
                <a:cs typeface="Arial"/>
                <a:sym typeface="Arial"/>
              </a:rPr>
              <a:t>Scouting y recomendación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1335024" y="2258568"/>
            <a:ext cx="6583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6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Sugiere perfiles según los requerimientos específicos del profesor o club.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9189720" y="1801368"/>
            <a:ext cx="2331720" cy="896112"/>
          </a:xfrm>
          <a:prstGeom prst="roundRect">
            <a:avLst>
              <a:gd fmla="val 15306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9363456" y="2075688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Filtro por necesidad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713232" y="3300984"/>
            <a:ext cx="420624" cy="420624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713232" y="3319272"/>
            <a:ext cx="4206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1335024" y="3246120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1600"/>
              <a:buFont typeface="Arial"/>
              <a:buNone/>
            </a:pPr>
            <a:r>
              <a:rPr b="1" i="0" lang="en-US" sz="2100" u="none" cap="none" strike="noStrike">
                <a:solidFill>
                  <a:srgbClr val="0B132B"/>
                </a:solidFill>
                <a:latin typeface="Arial"/>
                <a:ea typeface="Arial"/>
                <a:cs typeface="Arial"/>
                <a:sym typeface="Arial"/>
              </a:rPr>
              <a:t>Comparación automática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1335024" y="3675888"/>
            <a:ext cx="6583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6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Genera comparaciones, gráficos radar y métricas de similitud entre jugadores.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9189720" y="3218688"/>
            <a:ext cx="2331720" cy="896112"/>
          </a:xfrm>
          <a:prstGeom prst="roundRect">
            <a:avLst>
              <a:gd fmla="val 15306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9363456" y="3493008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Radar + similitud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713232" y="4718304"/>
            <a:ext cx="420624" cy="420624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713232" y="4736592"/>
            <a:ext cx="4206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1335024" y="4663440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1600"/>
              <a:buFont typeface="Arial"/>
              <a:buNone/>
            </a:pPr>
            <a:r>
              <a:rPr b="1" i="0" lang="en-US" sz="2100" u="none" cap="none" strike="noStrike">
                <a:solidFill>
                  <a:srgbClr val="0B132B"/>
                </a:solidFill>
                <a:latin typeface="Arial"/>
                <a:ea typeface="Arial"/>
                <a:cs typeface="Arial"/>
                <a:sym typeface="Arial"/>
              </a:rPr>
              <a:t>Clasificación y scoring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1335024" y="5093208"/>
            <a:ext cx="6583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6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Asigna un puntaje de aptitud deportiva a partir de atributos técnicos y físicos.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9189725" y="4635994"/>
            <a:ext cx="2331600" cy="1545300"/>
          </a:xfrm>
          <a:prstGeom prst="roundRect">
            <a:avLst>
              <a:gd fmla="val 15306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9363456" y="4910328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Score 0–100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8" name="Google Shape;138;p4"/>
          <p:cNvCxnSpPr/>
          <p:nvPr/>
        </p:nvCxnSpPr>
        <p:spPr>
          <a:xfrm rot="10800000">
            <a:off x="10351008" y="4828032"/>
            <a:ext cx="0" cy="612648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" name="Google Shape;139;p4"/>
          <p:cNvCxnSpPr/>
          <p:nvPr/>
        </p:nvCxnSpPr>
        <p:spPr>
          <a:xfrm flipH="1" rot="10800000">
            <a:off x="10351008" y="5134356"/>
            <a:ext cx="530569" cy="306324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" name="Google Shape;140;p4"/>
          <p:cNvCxnSpPr/>
          <p:nvPr/>
        </p:nvCxnSpPr>
        <p:spPr>
          <a:xfrm>
            <a:off x="10351008" y="5440680"/>
            <a:ext cx="530569" cy="306324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" name="Google Shape;141;p4"/>
          <p:cNvCxnSpPr/>
          <p:nvPr/>
        </p:nvCxnSpPr>
        <p:spPr>
          <a:xfrm>
            <a:off x="10351008" y="5440680"/>
            <a:ext cx="0" cy="612648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" name="Google Shape;142;p4"/>
          <p:cNvCxnSpPr/>
          <p:nvPr/>
        </p:nvCxnSpPr>
        <p:spPr>
          <a:xfrm flipH="1">
            <a:off x="9820439" y="5440680"/>
            <a:ext cx="530569" cy="306324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" name="Google Shape;143;p4"/>
          <p:cNvCxnSpPr/>
          <p:nvPr/>
        </p:nvCxnSpPr>
        <p:spPr>
          <a:xfrm rot="10800000">
            <a:off x="9820439" y="5134356"/>
            <a:ext cx="530569" cy="306324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4"/>
          <p:cNvSpPr/>
          <p:nvPr/>
        </p:nvSpPr>
        <p:spPr>
          <a:xfrm>
            <a:off x="9733848" y="4754932"/>
            <a:ext cx="1225200" cy="12252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FF6FF">
              <a:alpha val="0"/>
            </a:srgbClr>
          </a:solidFill>
          <a:ln cap="flat" cmpd="sng" w="254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45" name="Google Shape;145;p4"/>
          <p:cNvSpPr/>
          <p:nvPr/>
        </p:nvSpPr>
        <p:spPr>
          <a:xfrm>
            <a:off x="9957816" y="5129784"/>
            <a:ext cx="8046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Pase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Vel.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Tiro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713232" y="6181344"/>
            <a:ext cx="9418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Visualmente, el analista podrá entender por qué un jugador es recomendado.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 txBox="1"/>
          <p:nvPr>
            <p:ph idx="4294967295" type="sldNum"/>
          </p:nvPr>
        </p:nvSpPr>
        <p:spPr>
          <a:xfrm>
            <a:off x="11750040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3708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3708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"/>
          <p:cNvSpPr/>
          <p:nvPr/>
        </p:nvSpPr>
        <p:spPr>
          <a:xfrm>
            <a:off x="594360" y="34747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04 · OBJETIVOS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B132B"/>
                </a:solidFill>
                <a:latin typeface="Arial"/>
                <a:ea typeface="Arial"/>
                <a:cs typeface="Arial"/>
                <a:sym typeface="Arial"/>
              </a:rPr>
              <a:t>¿Qué nos comprometemos a entregar?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658368" y="1783080"/>
            <a:ext cx="10881300" cy="1143000"/>
          </a:xfrm>
          <a:prstGeom prst="roundRect">
            <a:avLst>
              <a:gd fmla="val 12000" name="adj"/>
            </a:avLst>
          </a:prstGeom>
          <a:solidFill>
            <a:srgbClr val="E8F0FF"/>
          </a:solidFill>
          <a:ln cap="flat" cmpd="sng" w="12700">
            <a:solidFill>
              <a:srgbClr val="E8F0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56" name="Google Shape;156;p5"/>
          <p:cNvSpPr/>
          <p:nvPr/>
        </p:nvSpPr>
        <p:spPr>
          <a:xfrm>
            <a:off x="886968" y="1993392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12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886968" y="2286000"/>
            <a:ext cx="101498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1300"/>
              <a:buFont typeface="Arial"/>
              <a:buNone/>
            </a:pPr>
            <a:r>
              <a:rPr b="1" i="0" lang="en-US" sz="1600" u="none" cap="none" strike="noStrike">
                <a:solidFill>
                  <a:srgbClr val="0B132B"/>
                </a:solidFill>
                <a:latin typeface="Arial"/>
                <a:ea typeface="Arial"/>
                <a:cs typeface="Arial"/>
                <a:sym typeface="Arial"/>
              </a:rPr>
              <a:t>Desarrollar e integrar un módulo de IA para scouting y analítica deportiva en Captaciones.cl, usando una BD desacoplada de métricas estandarizadas, sin comprometer la integridad de producción.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658368" y="3273552"/>
            <a:ext cx="420624" cy="420624"/>
          </a:xfrm>
          <a:prstGeom prst="ellipse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658368" y="3291840"/>
            <a:ext cx="4206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1252728" y="3246120"/>
            <a:ext cx="47548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20"/>
              <a:buFont typeface="Arial"/>
              <a:buNone/>
            </a:pPr>
            <a:r>
              <a:rPr b="0" i="0" lang="en-US" sz="14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Modelar y poblar la BD desacoplada con atributos técnicos, físicos y tácticos.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6163056" y="3273552"/>
            <a:ext cx="420624" cy="420624"/>
          </a:xfrm>
          <a:prstGeom prst="ellipse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6163056" y="3291840"/>
            <a:ext cx="4206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6757416" y="3246120"/>
            <a:ext cx="47548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20"/>
              <a:buFont typeface="Arial"/>
              <a:buNone/>
            </a:pPr>
            <a:r>
              <a:rPr b="0" i="0" lang="en-US" sz="14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Implementar búsqueda, filtrado inteligente y recomendación de perfiles.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658368" y="4169664"/>
            <a:ext cx="420624" cy="420624"/>
          </a:xfrm>
          <a:prstGeom prst="ellipse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658368" y="4187952"/>
            <a:ext cx="4206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1252728" y="4142232"/>
            <a:ext cx="47548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20"/>
              <a:buFont typeface="Arial"/>
              <a:buNone/>
            </a:pPr>
            <a:r>
              <a:rPr b="0" i="0" lang="en-US" sz="14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Desarrollar la API REST para análisis, similitud y comparativas.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6163056" y="4169664"/>
            <a:ext cx="420624" cy="420624"/>
          </a:xfrm>
          <a:prstGeom prst="ellipse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6163056" y="4187952"/>
            <a:ext cx="4206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6757416" y="4142232"/>
            <a:ext cx="47548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20"/>
              <a:buFont typeface="Arial"/>
              <a:buNone/>
            </a:pPr>
            <a:r>
              <a:rPr b="0" i="0" lang="en-US" sz="14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Construir la interfaz de scouting con radar y reportes interactivos.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658368" y="5065776"/>
            <a:ext cx="420624" cy="420624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658368" y="5084064"/>
            <a:ext cx="4206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1252728" y="5038344"/>
            <a:ext cx="47548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20"/>
              <a:buFont typeface="Arial"/>
              <a:buNone/>
            </a:pPr>
            <a:r>
              <a:rPr b="0" i="0" lang="en-US" sz="14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Probar integración y aislamiento entre IA/simulación y producción.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 txBox="1"/>
          <p:nvPr>
            <p:ph idx="4294967295" type="sldNum"/>
          </p:nvPr>
        </p:nvSpPr>
        <p:spPr>
          <a:xfrm>
            <a:off x="11750040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3708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3708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"/>
          <p:cNvSpPr/>
          <p:nvPr/>
        </p:nvSpPr>
        <p:spPr>
          <a:xfrm>
            <a:off x="594360" y="34747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05 · ARQUITECTURA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B132B"/>
                </a:solidFill>
                <a:latin typeface="Arial"/>
                <a:ea typeface="Arial"/>
                <a:cs typeface="Arial"/>
                <a:sym typeface="Arial"/>
              </a:rPr>
              <a:t>La decisión técnica clave: desacoplar datos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594360" y="118872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La seguridad operativa se construye separando producción del entorno experimental.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658368" y="1874520"/>
            <a:ext cx="3246120" cy="3154680"/>
          </a:xfrm>
          <a:prstGeom prst="roundRect">
            <a:avLst>
              <a:gd fmla="val 4348" name="adj"/>
            </a:avLst>
          </a:prstGeom>
          <a:solidFill>
            <a:srgbClr val="0B132B"/>
          </a:solidFill>
          <a:ln cap="flat" cmpd="sng" w="12700">
            <a:solidFill>
              <a:srgbClr val="0B132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914400" y="216712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PRODUCCIÓN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914400" y="258775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Captaciones.cl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914400" y="3182112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E7F7"/>
              </a:buClr>
              <a:buSzPts val="1300"/>
              <a:buFont typeface="Arial"/>
              <a:buNone/>
            </a:pPr>
            <a:r>
              <a:rPr b="0" i="0" lang="en-US" sz="1600" u="none" cap="none" strike="noStrike">
                <a:solidFill>
                  <a:srgbClr val="DCE7F7"/>
                </a:solidFill>
                <a:latin typeface="Arial"/>
                <a:ea typeface="Arial"/>
                <a:cs typeface="Arial"/>
                <a:sym typeface="Arial"/>
              </a:rPr>
              <a:t>Usuarios · postulantes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E7F7"/>
              </a:buClr>
              <a:buSzPts val="1300"/>
              <a:buFont typeface="Arial"/>
              <a:buNone/>
            </a:pPr>
            <a:r>
              <a:rPr b="0" i="0" lang="en-US" sz="1600" u="none" cap="none" strike="noStrike">
                <a:solidFill>
                  <a:srgbClr val="DCE7F7"/>
                </a:solidFill>
                <a:latin typeface="Arial"/>
                <a:ea typeface="Arial"/>
                <a:cs typeface="Arial"/>
                <a:sym typeface="Arial"/>
              </a:rPr>
              <a:t>asistencia · operación diaria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4471416" y="1874520"/>
            <a:ext cx="3246120" cy="3154680"/>
          </a:xfrm>
          <a:prstGeom prst="roundRect">
            <a:avLst>
              <a:gd fmla="val 4348" name="adj"/>
            </a:avLst>
          </a:prstGeom>
          <a:solidFill>
            <a:srgbClr val="E8F0FF"/>
          </a:solidFill>
          <a:ln cap="flat" cmpd="sng" w="12700">
            <a:solidFill>
              <a:srgbClr val="E8F0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4727448" y="216712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ENTORNO IA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4727448" y="258775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1900"/>
              <a:buFont typeface="Arial"/>
              <a:buNone/>
            </a:pPr>
            <a:r>
              <a:rPr b="1" i="0" lang="en-US" sz="2200" u="none" cap="none" strike="noStrike">
                <a:solidFill>
                  <a:srgbClr val="0B132B"/>
                </a:solidFill>
                <a:latin typeface="Arial"/>
                <a:ea typeface="Arial"/>
                <a:cs typeface="Arial"/>
                <a:sym typeface="Arial"/>
              </a:rPr>
              <a:t>BD desacoplada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4727448" y="3136392"/>
            <a:ext cx="2743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Dataset tipo PES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atributos estandarizados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pruebas y entrenamiento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8257032" y="1874520"/>
            <a:ext cx="3246120" cy="3154680"/>
          </a:xfrm>
          <a:prstGeom prst="roundRect">
            <a:avLst>
              <a:gd fmla="val 4348" name="adj"/>
            </a:avLst>
          </a:prstGeom>
          <a:solidFill>
            <a:srgbClr val="ECFDF5"/>
          </a:solidFill>
          <a:ln cap="flat" cmpd="sng" w="12700">
            <a:solidFill>
              <a:srgbClr val="ECFD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8513064" y="216712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INTEGRACIÓN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8513064" y="258775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1900"/>
              <a:buFont typeface="Arial"/>
              <a:buNone/>
            </a:pPr>
            <a:r>
              <a:rPr b="1" i="0" lang="en-US" sz="2200" u="none" cap="none" strike="noStrike">
                <a:solidFill>
                  <a:srgbClr val="0B132B"/>
                </a:solidFill>
                <a:latin typeface="Arial"/>
                <a:ea typeface="Arial"/>
                <a:cs typeface="Arial"/>
                <a:sym typeface="Arial"/>
              </a:rPr>
              <a:t>API + Frontend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8513064" y="3136392"/>
            <a:ext cx="2743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Servicios REST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radar · comparativas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recomendaciones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" name="Google Shape;194;p6"/>
          <p:cNvCxnSpPr/>
          <p:nvPr/>
        </p:nvCxnSpPr>
        <p:spPr>
          <a:xfrm>
            <a:off x="3913632" y="3456432"/>
            <a:ext cx="539496" cy="0"/>
          </a:xfrm>
          <a:prstGeom prst="straightConnector1">
            <a:avLst/>
          </a:prstGeom>
          <a:noFill/>
          <a:ln cap="flat" cmpd="sng" w="25400">
            <a:solidFill>
              <a:srgbClr val="94A3B8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95" name="Google Shape;195;p6"/>
          <p:cNvCxnSpPr/>
          <p:nvPr/>
        </p:nvCxnSpPr>
        <p:spPr>
          <a:xfrm>
            <a:off x="7726680" y="3456432"/>
            <a:ext cx="512064" cy="0"/>
          </a:xfrm>
          <a:prstGeom prst="straightConnector1">
            <a:avLst/>
          </a:prstGeom>
          <a:noFill/>
          <a:ln cap="flat" cmpd="sng" w="254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6"/>
          <p:cNvSpPr/>
          <p:nvPr/>
        </p:nvSpPr>
        <p:spPr>
          <a:xfrm>
            <a:off x="4773168" y="5376672"/>
            <a:ext cx="2651760" cy="292608"/>
          </a:xfrm>
          <a:prstGeom prst="roundRect">
            <a:avLst>
              <a:gd fmla="val 46875" name="adj"/>
            </a:avLst>
          </a:prstGeom>
          <a:solidFill>
            <a:srgbClr val="16A34A"/>
          </a:solidFill>
          <a:ln cap="flat" cmpd="sng" w="12700">
            <a:solidFill>
              <a:srgbClr val="16A34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4773168" y="5385816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PROTECCIÓN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3246120" y="5724144"/>
            <a:ext cx="5715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0B132B"/>
                </a:solidFill>
                <a:latin typeface="Arial"/>
                <a:ea typeface="Arial"/>
                <a:cs typeface="Arial"/>
                <a:sym typeface="Arial"/>
              </a:rPr>
              <a:t>Las pruebas se ejecutan sobre datos aislados para reducir el riesgo de alterar la información operativa.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"/>
          <p:cNvSpPr txBox="1"/>
          <p:nvPr>
            <p:ph idx="4294967295" type="sldNum"/>
          </p:nvPr>
        </p:nvSpPr>
        <p:spPr>
          <a:xfrm>
            <a:off x="11750040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3708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3708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"/>
          <p:cNvSpPr/>
          <p:nvPr/>
        </p:nvSpPr>
        <p:spPr>
          <a:xfrm>
            <a:off x="594360" y="34747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06 · METODOLOGÍA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B132B"/>
                </a:solidFill>
                <a:latin typeface="Arial"/>
                <a:ea typeface="Arial"/>
                <a:cs typeface="Arial"/>
                <a:sym typeface="Arial"/>
              </a:rPr>
              <a:t>¿Cómo vamos a desarrollarlo?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594360" y="118872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Trabajo iterativo con Scrum / Kanban y responsabilidades diferenciadas.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685800" y="1847088"/>
            <a:ext cx="21031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12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CICLO DE TRABAJO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685800" y="2423160"/>
            <a:ext cx="1280160" cy="914400"/>
          </a:xfrm>
          <a:prstGeom prst="roundRect">
            <a:avLst>
              <a:gd fmla="val 15000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896100" y="2770725"/>
            <a:ext cx="905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0B132B"/>
                </a:solidFill>
                <a:latin typeface="Arial"/>
                <a:ea typeface="Arial"/>
                <a:cs typeface="Arial"/>
                <a:sym typeface="Arial"/>
              </a:rPr>
              <a:t>Diseñar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831975" y="2505437"/>
            <a:ext cx="1134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t/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7"/>
          <p:cNvCxnSpPr/>
          <p:nvPr/>
        </p:nvCxnSpPr>
        <p:spPr>
          <a:xfrm>
            <a:off x="1965960" y="2880360"/>
            <a:ext cx="274320" cy="0"/>
          </a:xfrm>
          <a:prstGeom prst="straightConnector1">
            <a:avLst/>
          </a:prstGeom>
          <a:noFill/>
          <a:ln cap="flat" cmpd="sng" w="190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" name="Google Shape;213;p7"/>
          <p:cNvSpPr/>
          <p:nvPr/>
        </p:nvSpPr>
        <p:spPr>
          <a:xfrm>
            <a:off x="2258568" y="2423160"/>
            <a:ext cx="1280160" cy="914400"/>
          </a:xfrm>
          <a:prstGeom prst="roundRect">
            <a:avLst>
              <a:gd fmla="val 15000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2420763" y="2688263"/>
            <a:ext cx="1134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0B132B"/>
                </a:solidFill>
                <a:latin typeface="Arial"/>
                <a:ea typeface="Arial"/>
                <a:cs typeface="Arial"/>
                <a:sym typeface="Arial"/>
              </a:rPr>
              <a:t>Construir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5" name="Google Shape;215;p7"/>
          <p:cNvCxnSpPr/>
          <p:nvPr/>
        </p:nvCxnSpPr>
        <p:spPr>
          <a:xfrm>
            <a:off x="3538728" y="2880360"/>
            <a:ext cx="274320" cy="0"/>
          </a:xfrm>
          <a:prstGeom prst="straightConnector1">
            <a:avLst/>
          </a:prstGeom>
          <a:noFill/>
          <a:ln cap="flat" cmpd="sng" w="190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p7"/>
          <p:cNvSpPr/>
          <p:nvPr/>
        </p:nvSpPr>
        <p:spPr>
          <a:xfrm>
            <a:off x="3831336" y="2423160"/>
            <a:ext cx="1280160" cy="914400"/>
          </a:xfrm>
          <a:prstGeom prst="roundRect">
            <a:avLst>
              <a:gd fmla="val 15000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4009573" y="2610583"/>
            <a:ext cx="905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0B132B"/>
                </a:solidFill>
                <a:latin typeface="Arial"/>
                <a:ea typeface="Arial"/>
                <a:cs typeface="Arial"/>
                <a:sym typeface="Arial"/>
              </a:rPr>
              <a:t>Integrar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" name="Google Shape;218;p7"/>
          <p:cNvCxnSpPr/>
          <p:nvPr/>
        </p:nvCxnSpPr>
        <p:spPr>
          <a:xfrm>
            <a:off x="5111496" y="2880360"/>
            <a:ext cx="274320" cy="0"/>
          </a:xfrm>
          <a:prstGeom prst="straightConnector1">
            <a:avLst/>
          </a:prstGeom>
          <a:noFill/>
          <a:ln cap="flat" cmpd="sng" w="190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" name="Google Shape;219;p7"/>
          <p:cNvSpPr/>
          <p:nvPr/>
        </p:nvSpPr>
        <p:spPr>
          <a:xfrm>
            <a:off x="5404104" y="2423160"/>
            <a:ext cx="1280160" cy="914400"/>
          </a:xfrm>
          <a:prstGeom prst="roundRect">
            <a:avLst>
              <a:gd fmla="val 15000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5582351" y="2610585"/>
            <a:ext cx="905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0B132B"/>
                </a:solidFill>
                <a:latin typeface="Arial"/>
                <a:ea typeface="Arial"/>
                <a:cs typeface="Arial"/>
                <a:sym typeface="Arial"/>
              </a:rPr>
              <a:t>Validar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1" name="Google Shape;221;p7"/>
          <p:cNvCxnSpPr/>
          <p:nvPr/>
        </p:nvCxnSpPr>
        <p:spPr>
          <a:xfrm>
            <a:off x="6684264" y="2880360"/>
            <a:ext cx="274320" cy="0"/>
          </a:xfrm>
          <a:prstGeom prst="straightConnector1">
            <a:avLst/>
          </a:prstGeom>
          <a:noFill/>
          <a:ln cap="flat" cmpd="sng" w="190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p7"/>
          <p:cNvSpPr/>
          <p:nvPr/>
        </p:nvSpPr>
        <p:spPr>
          <a:xfrm>
            <a:off x="6976872" y="2423160"/>
            <a:ext cx="1280160" cy="914400"/>
          </a:xfrm>
          <a:prstGeom prst="roundRect">
            <a:avLst>
              <a:gd fmla="val 15000" name="adj"/>
            </a:avLst>
          </a:prstGeom>
          <a:solidFill>
            <a:srgbClr val="ECFDF5"/>
          </a:solidFill>
          <a:ln cap="flat" cmpd="sng" w="12700">
            <a:solidFill>
              <a:srgbClr val="ECFD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7141325" y="2640338"/>
            <a:ext cx="11340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1200"/>
              <a:buFont typeface="Arial"/>
              <a:buNone/>
            </a:pPr>
            <a:r>
              <a:rPr b="1" lang="en-US" sz="1500">
                <a:solidFill>
                  <a:srgbClr val="0B132B"/>
                </a:solidFill>
              </a:rPr>
              <a:t>Sprint Review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685800" y="3794760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13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RESPONSABILIDADES PROPUESTAS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685800" y="4187952"/>
            <a:ext cx="3429000" cy="1508760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685800" y="4187952"/>
            <a:ext cx="64008" cy="1508760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896112" y="4389120"/>
            <a:ext cx="30358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1500"/>
              <a:buFont typeface="Arial"/>
              <a:buNone/>
            </a:pPr>
            <a:r>
              <a:rPr b="1" i="0" lang="en-US" sz="1900" u="none" cap="none" strike="noStrike">
                <a:solidFill>
                  <a:srgbClr val="0B132B"/>
                </a:solidFill>
                <a:latin typeface="Arial"/>
                <a:ea typeface="Arial"/>
                <a:cs typeface="Arial"/>
                <a:sym typeface="Arial"/>
              </a:rPr>
              <a:t>Benjamin · Datos / QA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896112" y="4773168"/>
            <a:ext cx="3035808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5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Estructura de la BD desacoplada, carga del dataset y apoyo en pruebas de rendimiento/aislamiento.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4361688" y="4187952"/>
            <a:ext cx="3429000" cy="1508760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4361688" y="4187952"/>
            <a:ext cx="64008" cy="150876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4572000" y="4389120"/>
            <a:ext cx="30358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1500"/>
              <a:buFont typeface="Arial"/>
              <a:buNone/>
            </a:pPr>
            <a:r>
              <a:rPr b="1" i="0" lang="en-US" sz="1900" u="none" cap="none" strike="noStrike">
                <a:solidFill>
                  <a:srgbClr val="0B132B"/>
                </a:solidFill>
                <a:latin typeface="Arial"/>
                <a:ea typeface="Arial"/>
                <a:cs typeface="Arial"/>
                <a:sym typeface="Arial"/>
              </a:rPr>
              <a:t>Giovanni · IA / Backend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4572000" y="4773168"/>
            <a:ext cx="3035808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5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Motor de similitud y scoring, API REST y conexión de servicios analíticos.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8037576" y="4187952"/>
            <a:ext cx="3429000" cy="1508760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8037576" y="4187952"/>
            <a:ext cx="64008" cy="150876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8247888" y="4389120"/>
            <a:ext cx="30358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1500"/>
              <a:buFont typeface="Arial"/>
              <a:buNone/>
            </a:pPr>
            <a:r>
              <a:rPr b="1" i="0" lang="en-US" sz="1900" u="none" cap="none" strike="noStrike">
                <a:solidFill>
                  <a:srgbClr val="0B132B"/>
                </a:solidFill>
                <a:latin typeface="Arial"/>
                <a:ea typeface="Arial"/>
                <a:cs typeface="Arial"/>
                <a:sym typeface="Arial"/>
              </a:rPr>
              <a:t>Domingo · Frontend / Integración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8247888" y="4773168"/>
            <a:ext cx="3035808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5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UI/UX del scouting, componentes visuales, integración y validación de interfaz.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7"/>
          <p:cNvSpPr txBox="1"/>
          <p:nvPr>
            <p:ph idx="4294967295" type="sldNum"/>
          </p:nvPr>
        </p:nvSpPr>
        <p:spPr>
          <a:xfrm>
            <a:off x="11750040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3708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3708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"/>
          <p:cNvSpPr/>
          <p:nvPr/>
        </p:nvSpPr>
        <p:spPr>
          <a:xfrm>
            <a:off x="594360" y="34747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07 · FACTIBILIDAD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B132B"/>
                </a:solidFill>
                <a:latin typeface="Arial"/>
                <a:ea typeface="Arial"/>
                <a:cs typeface="Arial"/>
                <a:sym typeface="Arial"/>
              </a:rPr>
              <a:t>¿Por qué es realizable dentro del semestre?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594360" y="118872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La base existe; el esfuerzo se concentra en el nuevo módulo y su integración segura.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676656" y="1965960"/>
            <a:ext cx="3246120" cy="251460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905256" y="2212848"/>
            <a:ext cx="420624" cy="420624"/>
          </a:xfrm>
          <a:prstGeom prst="ellipse">
            <a:avLst/>
          </a:prstGeom>
          <a:solidFill>
            <a:srgbClr val="000000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905256" y="2231136"/>
            <a:ext cx="4206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1463040" y="2212848"/>
            <a:ext cx="21488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1500"/>
              <a:buFont typeface="Arial"/>
              <a:buNone/>
            </a:pPr>
            <a:r>
              <a:rPr b="1" i="0" lang="en-US" sz="2000" u="none" cap="none" strike="noStrike">
                <a:solidFill>
                  <a:srgbClr val="0B132B"/>
                </a:solidFill>
                <a:latin typeface="Arial"/>
                <a:ea typeface="Arial"/>
                <a:cs typeface="Arial"/>
                <a:sym typeface="Arial"/>
              </a:rPr>
              <a:t>Avance previo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905256" y="2834640"/>
            <a:ext cx="2761488" cy="1042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40"/>
              <a:buFont typeface="Arial"/>
              <a:buNone/>
            </a:pPr>
            <a:r>
              <a:rPr b="0" i="0" lang="en-US" sz="164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Plataforma, backend base, usuarios y dominio ya están implementados.</a:t>
            </a:r>
            <a:endParaRPr b="0" i="0" sz="16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4352544" y="1965960"/>
            <a:ext cx="3246120" cy="251460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4581144" y="2212848"/>
            <a:ext cx="420624" cy="420624"/>
          </a:xfrm>
          <a:prstGeom prst="ellipse">
            <a:avLst/>
          </a:prstGeom>
          <a:solidFill>
            <a:srgbClr val="000000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4581144" y="2231136"/>
            <a:ext cx="4206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5138928" y="2212848"/>
            <a:ext cx="21488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1500"/>
              <a:buFont typeface="Arial"/>
              <a:buNone/>
            </a:pPr>
            <a:r>
              <a:rPr b="1" i="0" lang="en-US" sz="2000" u="none" cap="none" strike="noStrike">
                <a:solidFill>
                  <a:srgbClr val="0B132B"/>
                </a:solidFill>
                <a:latin typeface="Arial"/>
                <a:ea typeface="Arial"/>
                <a:cs typeface="Arial"/>
                <a:sym typeface="Arial"/>
              </a:rPr>
              <a:t>Seguridad operativa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4581144" y="2834640"/>
            <a:ext cx="2761488" cy="1042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40"/>
              <a:buFont typeface="Arial"/>
              <a:buNone/>
            </a:pPr>
            <a:r>
              <a:rPr b="0" i="0" lang="en-US" sz="164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La BD desacoplada reduce el riesgo durante pruebas y entrenamiento.</a:t>
            </a:r>
            <a:endParaRPr b="0" i="0" sz="16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8028432" y="1965960"/>
            <a:ext cx="3246120" cy="251460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8257032" y="2212848"/>
            <a:ext cx="420624" cy="420624"/>
          </a:xfrm>
          <a:prstGeom prst="ellipse">
            <a:avLst/>
          </a:prstGeom>
          <a:solidFill>
            <a:srgbClr val="000000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8257032" y="2231136"/>
            <a:ext cx="4206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8814816" y="2212848"/>
            <a:ext cx="21488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1500"/>
              <a:buFont typeface="Arial"/>
              <a:buNone/>
            </a:pPr>
            <a:r>
              <a:rPr b="1" i="0" lang="en-US" sz="2000" u="none" cap="none" strike="noStrike">
                <a:solidFill>
                  <a:srgbClr val="0B132B"/>
                </a:solidFill>
                <a:latin typeface="Arial"/>
                <a:ea typeface="Arial"/>
                <a:cs typeface="Arial"/>
                <a:sym typeface="Arial"/>
              </a:rPr>
              <a:t>Recursos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8257032" y="2834640"/>
            <a:ext cx="2761488" cy="1042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40"/>
              <a:buFont typeface="Arial"/>
              <a:buNone/>
            </a:pPr>
            <a:r>
              <a:rPr b="0" i="0" lang="en-US" sz="164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Node.js/Python para IA, PostgreSQL/MongoDB y datasets públicos.</a:t>
            </a:r>
            <a:endParaRPr b="0" i="0" sz="16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676656" y="4956048"/>
            <a:ext cx="10607040" cy="758952"/>
          </a:xfrm>
          <a:prstGeom prst="roundRect">
            <a:avLst>
              <a:gd fmla="val 18072" name="adj"/>
            </a:avLst>
          </a:prstGeom>
          <a:solidFill>
            <a:srgbClr val="FFF7ED"/>
          </a:solidFill>
          <a:ln cap="flat" cmpd="sng" w="12700">
            <a:solidFill>
              <a:srgbClr val="FFF7E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932688" y="5193792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Arial"/>
              <a:buNone/>
            </a:pPr>
            <a:r>
              <a:rPr b="1" i="0" lang="en-US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ENFOQUE DEL SEMESTRE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2971800" y="5138928"/>
            <a:ext cx="77906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1400"/>
              <a:buFont typeface="Arial"/>
              <a:buNone/>
            </a:pPr>
            <a:r>
              <a:rPr b="1" i="0" lang="en-US" sz="1900" u="none" cap="none" strike="noStrike">
                <a:solidFill>
                  <a:srgbClr val="0B132B"/>
                </a:solidFill>
                <a:latin typeface="Arial"/>
                <a:ea typeface="Arial"/>
                <a:cs typeface="Arial"/>
                <a:sym typeface="Arial"/>
              </a:rPr>
              <a:t>Construir la capacidad de IA sobre una plataforma ya operativa, no rehacer el sistema completo.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8"/>
          <p:cNvSpPr txBox="1"/>
          <p:nvPr>
            <p:ph idx="4294967295" type="sldNum"/>
          </p:nvPr>
        </p:nvSpPr>
        <p:spPr>
          <a:xfrm>
            <a:off x="11750040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3708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3708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"/>
          <p:cNvSpPr/>
          <p:nvPr/>
        </p:nvSpPr>
        <p:spPr>
          <a:xfrm>
            <a:off x="594360" y="34747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08 · EVIDENCIAS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B132B"/>
                </a:solidFill>
                <a:latin typeface="Arial"/>
                <a:ea typeface="Arial"/>
                <a:cs typeface="Arial"/>
                <a:sym typeface="Arial"/>
              </a:rPr>
              <a:t>¿Cómo demostraremos que la solución funciona?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594360" y="118872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Entregables de avance y final alineados con la guía.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676656" y="1764792"/>
            <a:ext cx="749808" cy="292608"/>
          </a:xfrm>
          <a:prstGeom prst="roundRect">
            <a:avLst>
              <a:gd fmla="val 46875" name="adj"/>
            </a:avLst>
          </a:prstGeom>
          <a:solidFill>
            <a:srgbClr val="1D4ED8"/>
          </a:solidFill>
          <a:ln cap="flat" cmpd="sng" w="12700">
            <a:solidFill>
              <a:srgbClr val="1D4ED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9"/>
          <p:cNvSpPr/>
          <p:nvPr/>
        </p:nvSpPr>
        <p:spPr>
          <a:xfrm>
            <a:off x="676656" y="1773936"/>
            <a:ext cx="749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AVANCE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1673352" y="1755648"/>
            <a:ext cx="2788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1300"/>
              <a:buFont typeface="Arial"/>
              <a:buNone/>
            </a:pPr>
            <a:r>
              <a:rPr b="1" i="0" lang="en-US" sz="1500" u="none" cap="none" strike="noStrike">
                <a:solidFill>
                  <a:srgbClr val="0B132B"/>
                </a:solidFill>
                <a:latin typeface="Arial"/>
                <a:ea typeface="Arial"/>
                <a:cs typeface="Arial"/>
                <a:sym typeface="Arial"/>
              </a:rPr>
              <a:t>Arquitectura + BD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4270248" y="1719072"/>
            <a:ext cx="6766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20"/>
              <a:buFont typeface="Arial"/>
              <a:buNone/>
            </a:pPr>
            <a:r>
              <a:rPr b="0" i="0" lang="en-US" sz="15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Diagrama de arquitectura, modelo ER y carga del dataset PES.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7" name="Google Shape;277;p9"/>
          <p:cNvCxnSpPr/>
          <p:nvPr/>
        </p:nvCxnSpPr>
        <p:spPr>
          <a:xfrm>
            <a:off x="676656" y="2596896"/>
            <a:ext cx="10296144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8" name="Google Shape;278;p9"/>
          <p:cNvSpPr/>
          <p:nvPr/>
        </p:nvSpPr>
        <p:spPr>
          <a:xfrm>
            <a:off x="676656" y="2816352"/>
            <a:ext cx="749808" cy="292608"/>
          </a:xfrm>
          <a:prstGeom prst="roundRect">
            <a:avLst>
              <a:gd fmla="val 46875" name="adj"/>
            </a:avLst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676656" y="2825496"/>
            <a:ext cx="749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AVANCE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1673352" y="2807208"/>
            <a:ext cx="2788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1300"/>
              <a:buFont typeface="Arial"/>
              <a:buNone/>
            </a:pPr>
            <a:r>
              <a:rPr b="1" i="0" lang="en-US" sz="1600" u="none" cap="none" strike="noStrike">
                <a:solidFill>
                  <a:srgbClr val="0B132B"/>
                </a:solidFill>
                <a:latin typeface="Arial"/>
                <a:ea typeface="Arial"/>
                <a:cs typeface="Arial"/>
                <a:sym typeface="Arial"/>
              </a:rPr>
              <a:t>API del motor IA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4270248" y="2770632"/>
            <a:ext cx="6766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20"/>
              <a:buFont typeface="Arial"/>
              <a:buNone/>
            </a:pPr>
            <a:r>
              <a:rPr b="0" i="0" lang="en-US" sz="15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Código + documentación Postman/Swagger y endpoints analíticos.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2" name="Google Shape;282;p9"/>
          <p:cNvCxnSpPr/>
          <p:nvPr/>
        </p:nvCxnSpPr>
        <p:spPr>
          <a:xfrm>
            <a:off x="676656" y="3648456"/>
            <a:ext cx="10296144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9"/>
          <p:cNvSpPr/>
          <p:nvPr/>
        </p:nvSpPr>
        <p:spPr>
          <a:xfrm>
            <a:off x="676656" y="3867912"/>
            <a:ext cx="749808" cy="292608"/>
          </a:xfrm>
          <a:prstGeom prst="roundRect">
            <a:avLst>
              <a:gd fmla="val 46875" name="adj"/>
            </a:avLst>
          </a:prstGeom>
          <a:solidFill>
            <a:srgbClr val="16A34A"/>
          </a:solidFill>
          <a:ln cap="flat" cmpd="sng" w="12700">
            <a:solidFill>
              <a:srgbClr val="16A34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"/>
          <p:cNvSpPr/>
          <p:nvPr/>
        </p:nvSpPr>
        <p:spPr>
          <a:xfrm>
            <a:off x="676656" y="3877056"/>
            <a:ext cx="749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FINAL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1673352" y="3858768"/>
            <a:ext cx="2788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1300"/>
              <a:buFont typeface="Arial"/>
              <a:buNone/>
            </a:pPr>
            <a:r>
              <a:rPr b="1" i="0" lang="en-US" sz="1500" u="none" cap="none" strike="noStrike">
                <a:solidFill>
                  <a:srgbClr val="0B132B"/>
                </a:solidFill>
                <a:latin typeface="Arial"/>
                <a:ea typeface="Arial"/>
                <a:cs typeface="Arial"/>
                <a:sym typeface="Arial"/>
              </a:rPr>
              <a:t>Módulo Web integrado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4270248" y="3822192"/>
            <a:ext cx="6766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20"/>
              <a:buFont typeface="Arial"/>
              <a:buNone/>
            </a:pPr>
            <a:r>
              <a:rPr b="0" i="0" lang="en-US" sz="15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Frontend con radar, comparativas y scouting en Captaciones.cl.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7" name="Google Shape;287;p9"/>
          <p:cNvCxnSpPr/>
          <p:nvPr/>
        </p:nvCxnSpPr>
        <p:spPr>
          <a:xfrm>
            <a:off x="676656" y="4700016"/>
            <a:ext cx="10296144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8" name="Google Shape;288;p9"/>
          <p:cNvSpPr/>
          <p:nvPr/>
        </p:nvSpPr>
        <p:spPr>
          <a:xfrm>
            <a:off x="676656" y="4919472"/>
            <a:ext cx="749808" cy="292608"/>
          </a:xfrm>
          <a:prstGeom prst="roundRect">
            <a:avLst>
              <a:gd fmla="val 46875" name="adj"/>
            </a:avLst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676656" y="4928616"/>
            <a:ext cx="749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FINAL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1673350" y="4910325"/>
            <a:ext cx="1969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1300"/>
              <a:buFont typeface="Arial"/>
              <a:buNone/>
            </a:pPr>
            <a:r>
              <a:rPr b="1" lang="en-US" sz="1500">
                <a:solidFill>
                  <a:srgbClr val="0B132B"/>
                </a:solidFill>
              </a:rPr>
              <a:t>Capacitación y</a:t>
            </a:r>
            <a:r>
              <a:rPr b="1" i="0" lang="en-US" sz="1500" u="none" cap="none" strike="noStrike">
                <a:solidFill>
                  <a:srgbClr val="0B132B"/>
                </a:solidFill>
                <a:latin typeface="Arial"/>
                <a:ea typeface="Arial"/>
                <a:cs typeface="Arial"/>
                <a:sym typeface="Arial"/>
              </a:rPr>
              <a:t> manual de uso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4270248" y="4873752"/>
            <a:ext cx="6766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20"/>
              <a:buFont typeface="Arial"/>
              <a:buNone/>
            </a:pPr>
            <a:r>
              <a:rPr b="0" i="0" lang="en-US" sz="15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Resultados de integración/aislamiento y guía de uso.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2" name="Google Shape;292;p9"/>
          <p:cNvCxnSpPr/>
          <p:nvPr/>
        </p:nvCxnSpPr>
        <p:spPr>
          <a:xfrm>
            <a:off x="676656" y="5751576"/>
            <a:ext cx="10296144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3" name="Google Shape;293;p9"/>
          <p:cNvSpPr/>
          <p:nvPr/>
        </p:nvSpPr>
        <p:spPr>
          <a:xfrm>
            <a:off x="685800" y="6126480"/>
            <a:ext cx="10241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132B"/>
                </a:solidFill>
                <a:latin typeface="Arial"/>
                <a:ea typeface="Arial"/>
                <a:cs typeface="Arial"/>
                <a:sym typeface="Arial"/>
              </a:rPr>
              <a:t>Cada evidencia responde a una pregunta: ¿está construido?, ¿se integra?, ¿funciona?, ¿es seguro y utilizable?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9"/>
          <p:cNvSpPr txBox="1"/>
          <p:nvPr>
            <p:ph idx="4294967295" type="sldNum"/>
          </p:nvPr>
        </p:nvSpPr>
        <p:spPr>
          <a:xfrm>
            <a:off x="11750040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3708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3708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0"/>
          <p:cNvSpPr txBox="1"/>
          <p:nvPr>
            <p:ph idx="4294967295" type="sldNum"/>
          </p:nvPr>
        </p:nvSpPr>
        <p:spPr>
          <a:xfrm>
            <a:off x="11750040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3708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3708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1" name="Google Shape;30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445240" cy="6437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1"/>
          <p:cNvSpPr/>
          <p:nvPr/>
        </p:nvSpPr>
        <p:spPr>
          <a:xfrm>
            <a:off x="640080" y="54864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10 · Cierre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640080" y="1005840"/>
            <a:ext cx="9052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¿Qué cambia con ProyectoPes?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685800" y="2331720"/>
            <a:ext cx="3246120" cy="1417320"/>
          </a:xfrm>
          <a:prstGeom prst="roundRect">
            <a:avLst>
              <a:gd fmla="val 9677" name="adj"/>
            </a:avLst>
          </a:prstGeom>
          <a:solidFill>
            <a:srgbClr val="172347"/>
          </a:solidFill>
          <a:ln cap="flat" cmpd="sng" w="12700">
            <a:solidFill>
              <a:srgbClr val="17234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868680" y="2578608"/>
            <a:ext cx="2880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8D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AB8D6"/>
                </a:solidFill>
                <a:latin typeface="Arial"/>
                <a:ea typeface="Arial"/>
                <a:cs typeface="Arial"/>
                <a:sym typeface="Arial"/>
              </a:rPr>
              <a:t>ANTES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850392" y="2971800"/>
            <a:ext cx="2926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Evaluación convencional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 filtrado manual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4416552" y="2331720"/>
            <a:ext cx="3246120" cy="1417320"/>
          </a:xfrm>
          <a:prstGeom prst="roundRect">
            <a:avLst>
              <a:gd fmla="val 9677" name="adj"/>
            </a:avLst>
          </a:prstGeom>
          <a:solidFill>
            <a:srgbClr val="172347"/>
          </a:solidFill>
          <a:ln cap="flat" cmpd="sng" w="12700">
            <a:solidFill>
              <a:srgbClr val="17234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4599432" y="2578608"/>
            <a:ext cx="2880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DESPUÉS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4581144" y="2971800"/>
            <a:ext cx="2926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Scouting asistido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por IA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8147304" y="2331720"/>
            <a:ext cx="3246120" cy="1417320"/>
          </a:xfrm>
          <a:prstGeom prst="roundRect">
            <a:avLst>
              <a:gd fmla="val 9677" name="adj"/>
            </a:avLst>
          </a:prstGeom>
          <a:solidFill>
            <a:srgbClr val="172347"/>
          </a:solidFill>
          <a:ln cap="flat" cmpd="sng" w="12700">
            <a:solidFill>
              <a:srgbClr val="17234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8330184" y="2578608"/>
            <a:ext cx="2880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8D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AB8D6"/>
                </a:solidFill>
                <a:latin typeface="Arial"/>
                <a:ea typeface="Arial"/>
                <a:cs typeface="Arial"/>
                <a:sym typeface="Arial"/>
              </a:rPr>
              <a:t>SIEMPRE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8311896" y="2971800"/>
            <a:ext cx="2926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Producción aislada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 protegida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731520" y="4434840"/>
            <a:ext cx="10607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EEF9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E6EEF9"/>
                </a:solidFill>
                <a:latin typeface="Arial"/>
                <a:ea typeface="Arial"/>
                <a:cs typeface="Arial"/>
                <a:sym typeface="Arial"/>
              </a:rPr>
              <a:t>La propuesta no reemplaza al analista: le entrega mejores datos para buscar, comparar y priorizar talentos.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4828032" y="5440680"/>
            <a:ext cx="2560320" cy="292608"/>
          </a:xfrm>
          <a:prstGeom prst="roundRect">
            <a:avLst>
              <a:gd fmla="val 46875" name="adj"/>
            </a:avLst>
          </a:prstGeom>
          <a:solidFill>
            <a:srgbClr val="1D4ED8"/>
          </a:solidFill>
          <a:ln cap="flat" cmpd="sng" w="12700">
            <a:solidFill>
              <a:srgbClr val="1D4ED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1"/>
          <p:cNvSpPr/>
          <p:nvPr/>
        </p:nvSpPr>
        <p:spPr>
          <a:xfrm>
            <a:off x="4828032" y="5449824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PROYECTOPES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4754880" y="5925312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Preguntas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1"/>
          <p:cNvSpPr txBox="1"/>
          <p:nvPr>
            <p:ph idx="4294967295" type="sldNum"/>
          </p:nvPr>
        </p:nvSpPr>
        <p:spPr>
          <a:xfrm>
            <a:off x="11750040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3708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3708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2026-09-01T20:41:33Z</dcterms:created>
  <dc:creator>Benjamin Ibaceta, Giovanni Jorquera, Domingo Muñoz</dc:creator>
</cp:coreProperties>
</file>